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7cb5ace104db1" /><Relationship Type="http://schemas.openxmlformats.org/officeDocument/2006/relationships/extended-properties" Target="/docProps/app.xml" Id="Red510b23320e46e7" /><Relationship Type="http://schemas.openxmlformats.org/officeDocument/2006/relationships/officeDocument" Target="/ppt/presentation.xml" Id="R8b6c3300950b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bca6450904094"/>
  </p:sldMasterIdLst>
  <p:notesMasterIdLst>
    <p:notesMasterId xmlns:r="http://schemas.openxmlformats.org/officeDocument/2006/relationships" r:id="Rffe8934c3d0f47da"/>
  </p:notesMasterIdLst>
  <p:sldIdLst>
    <p:sldId xmlns:r="http://schemas.openxmlformats.org/officeDocument/2006/relationships" id="256" r:id="R64175e1a7e59451e"/>
    <p:sldId xmlns:r="http://schemas.openxmlformats.org/officeDocument/2006/relationships" id="257" r:id="R98ccef7377a04783"/>
    <p:sldId xmlns:r="http://schemas.openxmlformats.org/officeDocument/2006/relationships" id="258" r:id="R3375eb22b6604bf9"/>
    <p:sldId xmlns:r="http://schemas.openxmlformats.org/officeDocument/2006/relationships" id="259" r:id="R7c4a6a6b5f384b14"/>
    <p:sldId xmlns:r="http://schemas.openxmlformats.org/officeDocument/2006/relationships" id="260" r:id="Ra3c0529996af4cf2"/>
    <p:sldId xmlns:r="http://schemas.openxmlformats.org/officeDocument/2006/relationships" id="261" r:id="Rbb9454c5034a401b"/>
    <p:sldId xmlns:r="http://schemas.openxmlformats.org/officeDocument/2006/relationships" id="262" r:id="R9e0d5c0517f34d06"/>
    <p:sldId xmlns:r="http://schemas.openxmlformats.org/officeDocument/2006/relationships" id="263" r:id="R76d0754df45746e0"/>
    <p:sldId xmlns:r="http://schemas.openxmlformats.org/officeDocument/2006/relationships" id="264" r:id="R7f08fc8ec17b4841"/>
    <p:sldId xmlns:r="http://schemas.openxmlformats.org/officeDocument/2006/relationships" id="265" r:id="Rab5daf1280d647aa"/>
    <p:sldId xmlns:r="http://schemas.openxmlformats.org/officeDocument/2006/relationships" id="266" r:id="R47128f8ba6ad4aef"/>
    <p:sldId xmlns:r="http://schemas.openxmlformats.org/officeDocument/2006/relationships" id="267" r:id="R4b6271b7016949e3"/>
    <p:sldId xmlns:r="http://schemas.openxmlformats.org/officeDocument/2006/relationships" id="268" r:id="R7d1801209d65410d"/>
    <p:sldId xmlns:r="http://schemas.openxmlformats.org/officeDocument/2006/relationships" id="269" r:id="R654e8be9197c4549"/>
    <p:sldId xmlns:r="http://schemas.openxmlformats.org/officeDocument/2006/relationships" id="270" r:id="Rb903d5bbbbf44f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69a026e7f4be4" /><Relationship Type="http://schemas.openxmlformats.org/officeDocument/2006/relationships/slideMaster" Target="/ppt/slideMasters/slideMaster1.xml" Id="Re5dbca6450904094" /><Relationship Type="http://schemas.openxmlformats.org/officeDocument/2006/relationships/notesMaster" Target="/ppt/notesMasters/notesMaster1.xml" Id="Rffe8934c3d0f47da" /><Relationship Type="http://schemas.openxmlformats.org/officeDocument/2006/relationships/presProps" Target="/ppt/presProps.xml" Id="Ra736b94a1acf481f" /><Relationship Type="http://schemas.openxmlformats.org/officeDocument/2006/relationships/tableStyles" Target="/ppt/tableStyles.xml" Id="R3137dff005804f43" /><Relationship Type="http://schemas.openxmlformats.org/officeDocument/2006/relationships/slide" Target="/ppt/slides/slide1.xml" Id="R64175e1a7e59451e" /><Relationship Type="http://schemas.openxmlformats.org/officeDocument/2006/relationships/slide" Target="/ppt/slides/slide2.xml" Id="R98ccef7377a04783" /><Relationship Type="http://schemas.openxmlformats.org/officeDocument/2006/relationships/slide" Target="/ppt/slides/slide3.xml" Id="R3375eb22b6604bf9" /><Relationship Type="http://schemas.openxmlformats.org/officeDocument/2006/relationships/slide" Target="/ppt/slides/slide4.xml" Id="R7c4a6a6b5f384b14" /><Relationship Type="http://schemas.openxmlformats.org/officeDocument/2006/relationships/slide" Target="/ppt/slides/slide5.xml" Id="Ra3c0529996af4cf2" /><Relationship Type="http://schemas.openxmlformats.org/officeDocument/2006/relationships/slide" Target="/ppt/slides/slide6.xml" Id="Rbb9454c5034a401b" /><Relationship Type="http://schemas.openxmlformats.org/officeDocument/2006/relationships/slide" Target="/ppt/slides/slide7.xml" Id="R9e0d5c0517f34d06" /><Relationship Type="http://schemas.openxmlformats.org/officeDocument/2006/relationships/slide" Target="/ppt/slides/slide8.xml" Id="R76d0754df45746e0" /><Relationship Type="http://schemas.openxmlformats.org/officeDocument/2006/relationships/slide" Target="/ppt/slides/slide9.xml" Id="R7f08fc8ec17b4841" /><Relationship Type="http://schemas.openxmlformats.org/officeDocument/2006/relationships/slide" Target="/ppt/slides/slide10.xml" Id="Rab5daf1280d647aa" /><Relationship Type="http://schemas.openxmlformats.org/officeDocument/2006/relationships/slide" Target="/ppt/slides/slide11.xml" Id="R47128f8ba6ad4aef" /><Relationship Type="http://schemas.openxmlformats.org/officeDocument/2006/relationships/slide" Target="/ppt/slides/slide12.xml" Id="R4b6271b7016949e3" /><Relationship Type="http://schemas.openxmlformats.org/officeDocument/2006/relationships/slide" Target="/ppt/slides/slide13.xml" Id="R7d1801209d65410d" /><Relationship Type="http://schemas.openxmlformats.org/officeDocument/2006/relationships/slide" Target="/ppt/slides/slide14.xml" Id="R654e8be9197c4549" /><Relationship Type="http://schemas.openxmlformats.org/officeDocument/2006/relationships/slide" Target="/ppt/slides/slide15.xml" Id="Rb903d5bbbbf4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c2c844ba3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7f827ec5b48c6" /><Relationship Type="http://schemas.openxmlformats.org/officeDocument/2006/relationships/notesMaster" Target="/ppt/notesMasters/notesMaster1.xml" Id="Re19a4c3165eb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2da241a4c42f6" /><Relationship Type="http://schemas.openxmlformats.org/officeDocument/2006/relationships/notesMaster" Target="/ppt/notesMasters/notesMaster1.xml" Id="R880813e81ee0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04a93c839e4b29" /><Relationship Type="http://schemas.openxmlformats.org/officeDocument/2006/relationships/notesMaster" Target="/ppt/notesMasters/notesMaster1.xml" Id="R754a0431197a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b919c2ab04988" /><Relationship Type="http://schemas.openxmlformats.org/officeDocument/2006/relationships/notesMaster" Target="/ppt/notesMasters/notesMaster1.xml" Id="R51cb8b22bc9940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f7b3e0dc3341d9" /><Relationship Type="http://schemas.openxmlformats.org/officeDocument/2006/relationships/notesMaster" Target="/ppt/notesMasters/notesMaster1.xml" Id="R9a7cc2fa7dc3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5e41c38b0492b" /><Relationship Type="http://schemas.openxmlformats.org/officeDocument/2006/relationships/notesMaster" Target="/ppt/notesMasters/notesMaster1.xml" Id="R09bc94eb5227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d5b839c4cc43d0" /><Relationship Type="http://schemas.openxmlformats.org/officeDocument/2006/relationships/notesMaster" Target="/ppt/notesMasters/notesMaster1.xml" Id="Rb314b6c988674e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7df8aad057452c" /><Relationship Type="http://schemas.openxmlformats.org/officeDocument/2006/relationships/notesMaster" Target="/ppt/notesMasters/notesMaster1.xml" Id="Rb4ea96e43c5f40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795a47d588496b" /><Relationship Type="http://schemas.openxmlformats.org/officeDocument/2006/relationships/notesMaster" Target="/ppt/notesMasters/notesMaster1.xml" Id="Rf31af19c905a42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e0ef44bc648fa" /><Relationship Type="http://schemas.openxmlformats.org/officeDocument/2006/relationships/notesMaster" Target="/ppt/notesMasters/notesMaster1.xml" Id="R0b265ff8435a43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7b2c4ce1b444f9" /><Relationship Type="http://schemas.openxmlformats.org/officeDocument/2006/relationships/notesMaster" Target="/ppt/notesMasters/notesMaster1.xml" Id="R2fb265d5bb6543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cd6ac528a4415" /><Relationship Type="http://schemas.openxmlformats.org/officeDocument/2006/relationships/notesMaster" Target="/ppt/notesMasters/notesMaster1.xml" Id="Rf6724d3668ad49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56412b4205429f" /><Relationship Type="http://schemas.openxmlformats.org/officeDocument/2006/relationships/notesMaster" Target="/ppt/notesMasters/notesMaster1.xml" Id="R02aca0f72ead48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f96ed7abe84050" /><Relationship Type="http://schemas.openxmlformats.org/officeDocument/2006/relationships/notesMaster" Target="/ppt/notesMasters/notesMaster1.xml" Id="R6500e823a7fb4a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f5f0d49c9f4b30" /><Relationship Type="http://schemas.openxmlformats.org/officeDocument/2006/relationships/notesMaster" Target="/ppt/notesMasters/notesMaster1.xml" Id="R9d76e30d74e7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con espacios editables. Estado del repositorio: origin/main en 35323af1fbb64495ce7d8e84ee83923d16fceb4a.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es una motivación general del proyecto. No hay estimaciones cuantificadas de pérdidas de Vitali en la evidencia revisada. Fuente: README.md y motor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pasos se basan en operations/services.py: import_sales y recommendation_cards, y operations/templates/operations/recommendations.html.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XGBRegressor aparece en smartorder/recommendations.py. ChatGPT/Codex se usaron en esta tarea. scikit-learn figura en requirements.txt pero no se encontró uso directo del estimador/métricas en los .py auditados.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derivada de vitali_web/settings.py, operations/views.py, operations/services.py, smartorder/data.py y smartorder/recommendations.py. app.py inicia streamlit_app.py, que importa las mismas funciones.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smartorder/data.py define encabezados/normalización; smartorder/recommendations.py define características. El repo no vincula tiempo meteorológico con ventas; no presentarlo como funcionalidad.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smartorder/data.py y operations/services.py. Cobertura desconocida/incompleta impide autorización automática, según tests/test_recommendations.py.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Fragmento de smartorder/recommendations.py, _features y _xgboost. XGBRegressor config: objective reg:squarederror, tree_method hist, n_estimators 80, max_depth 3, learning_rate 0.05, n_jobs 1, random_state 73.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MIN_BACKTEST_WINDOWS=16 y SELECTION_WINDOWS=8 en smartorder/recommendations.py. No presentar el resultado de laboratorio como evaluación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 de smartorder/recommendations.py líneas 460–468. Se transcribe para mostrar el punto de entrenamiento y predicción.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tomadas en navegador local contra main. Las cuentas visibles son de captura y solo pertenecen al laboratorio. Panel muestra el límite explícito: la venta no autoriza producción. Archivos en evidencias/presentacion-ia/.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 la app en main. La fuente sintética constante se creó localmente con 550 días y 5 clientes. La recomendación usa “Mediana de días equivalentes”. El empate MAE 0 vs 0 aplica únicamente a esta demostración artificial.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tomada antes de accionar “Revisar pedido”/confirmar venta. Lógica de permisos y estado real se mantiene en Django. No se escribió ningún pedido de prueba en esta sesión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119 pruebas: `manage.py test` (exit 0). `manage.py check` OK. Manualmente se abrió la app y se consultaron vistas en LAB. Un par de pruebas imprime warnings esperados de acceso restringido y Streamlit en modo de prueba. No hay un resultado de evaluación real Vitali.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consistente con los límites observados en 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3689e86504e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513ae4ffa4b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b70beddba43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423bc026a4f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340d2f5774e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55700e282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C8983A-C099-4B2A-BF02-F5D7731EE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C0B608-F187-42E2-8A73-BEB62366C8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EB1B3D-437B-4D42-A06A-51B7785A2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AF05D9-52CF-4099-BD19-04782A41C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ED42A8-BB75-459D-96B5-C30C4E39C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BFB2AD-1BCA-4602-A08B-FF7288FAD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B924FC-670D-49B6-9F1F-772EE1027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872C9C-BA8F-4971-B251-7D5D4EEA3E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78C14F-6D37-4F8E-9517-0E5DD599A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EEE7AB-9F3B-4F01-8ACE-FB77F8A9ED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c3deac5694573" /><Relationship Type="http://schemas.openxmlformats.org/officeDocument/2006/relationships/slideLayout" Target="/ppt/slideLayouts/slideLayout1.xml" Id="Rd2edb65cd2d94e5f" /><Relationship Type="http://schemas.openxmlformats.org/officeDocument/2006/relationships/slideLayout" Target="/ppt/slideLayouts/slideLayout2.xml" Id="R78bbcb1318624fae" /><Relationship Type="http://schemas.openxmlformats.org/officeDocument/2006/relationships/slideLayout" Target="/ppt/slideLayouts/slideLayout3.xml" Id="R8d9c853145c145b1" /><Relationship Type="http://schemas.openxmlformats.org/officeDocument/2006/relationships/slideLayout" Target="/ppt/slideLayouts/slideLayout4.xml" Id="Raf36bfd972d64605" /><Relationship Type="http://schemas.openxmlformats.org/officeDocument/2006/relationships/slideLayout" Target="/ppt/slideLayouts/slideLayout5.xml" Id="Rf1f8d32f539e43ed" /><Relationship Type="http://schemas.openxmlformats.org/officeDocument/2006/relationships/slideLayout" Target="/ppt/slideLayouts/slideLayout6.xml" Id="R00b4d0b9ab65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db65cd2d94e5f"/>
    <p:sldLayoutId xmlns:r="http://schemas.openxmlformats.org/officeDocument/2006/relationships" id="2147483650" r:id="R78bbcb1318624fae"/>
    <p:sldLayoutId xmlns:r="http://schemas.openxmlformats.org/officeDocument/2006/relationships" id="2147483651" r:id="R8d9c853145c145b1"/>
    <p:sldLayoutId xmlns:r="http://schemas.openxmlformats.org/officeDocument/2006/relationships" id="2147483652" r:id="Raf36bfd972d64605"/>
    <p:sldLayoutId xmlns:r="http://schemas.openxmlformats.org/officeDocument/2006/relationships" id="2147483653" r:id="Rf1f8d32f539e43ed"/>
    <p:sldLayoutId xmlns:r="http://schemas.openxmlformats.org/officeDocument/2006/relationships" id="2147483654" r:id="R00b4d0b9ab65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b5296ed5545c7" /><Relationship Type="http://schemas.openxmlformats.org/officeDocument/2006/relationships/notesSlide" Target="/ppt/notesSlides/notesSlide1.xml" Id="R10b82116e3e64b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02fc9edf64da8" /><Relationship Type="http://schemas.openxmlformats.org/officeDocument/2006/relationships/notesSlide" Target="/ppt/notesSlides/notesSlide2.xml" Id="Rab52e158afec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075da3c1d4335" /><Relationship Type="http://schemas.openxmlformats.org/officeDocument/2006/relationships/notesSlide" Target="/ppt/notesSlides/notesSlide3.xml" Id="R759c5c48020d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02581093547c3" /><Relationship Type="http://schemas.openxmlformats.org/officeDocument/2006/relationships/notesSlide" Target="/ppt/notesSlides/notesSlide4.xml" Id="R217264c28d04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8b35ad8b34d6c" /><Relationship Type="http://schemas.openxmlformats.org/officeDocument/2006/relationships/notesSlide" Target="/ppt/notesSlides/notesSlide5.xml" Id="R4344caf6c049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ed137460a48a9" /><Relationship Type="http://schemas.openxmlformats.org/officeDocument/2006/relationships/notesSlide" Target="/ppt/notesSlides/notesSlide6.xml" Id="R84b72c20daa5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4fc20ec4b4b71" /><Relationship Type="http://schemas.openxmlformats.org/officeDocument/2006/relationships/notesSlide" Target="/ppt/notesSlides/notesSlide7.xml" Id="R62198b63981e4c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7b7d4ef9c48ea" /><Relationship Type="http://schemas.openxmlformats.org/officeDocument/2006/relationships/notesSlide" Target="/ppt/notesSlides/notesSlide8.xml" Id="Re5dde3912cf347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242907d3c4f86" /><Relationship Type="http://schemas.openxmlformats.org/officeDocument/2006/relationships/notesSlide" Target="/ppt/notesSlides/notesSlide9.xml" Id="Rb3e193f5e77943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4241f5d264fc0" /><Relationship Type="http://schemas.openxmlformats.org/officeDocument/2006/relationships/notesSlide" Target="/ppt/notesSlides/notesSlide10.xml" Id="Rce19f7c8646240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d9702987c46a2" /><Relationship Type="http://schemas.openxmlformats.org/officeDocument/2006/relationships/image" Target="/ppt/media/image.jpeg" Id="R2d8c6382ab1845bb" /><Relationship Type="http://schemas.openxmlformats.org/officeDocument/2006/relationships/image" Target="/ppt/media/image2.jpeg" Id="R1314c14f74ca4f27" /><Relationship Type="http://schemas.openxmlformats.org/officeDocument/2006/relationships/notesSlide" Target="/ppt/notesSlides/notesSlide11.xml" Id="R4088b3f3ec764c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9fc4f78974fed" /><Relationship Type="http://schemas.openxmlformats.org/officeDocument/2006/relationships/image" Target="/ppt/media/image3.jpeg" Id="R47ff22c7123348d2" /><Relationship Type="http://schemas.openxmlformats.org/officeDocument/2006/relationships/notesSlide" Target="/ppt/notesSlides/notesSlide12.xml" Id="Rea43d97fe1e34c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4bbecfaec4b8a" /><Relationship Type="http://schemas.openxmlformats.org/officeDocument/2006/relationships/image" Target="/ppt/media/image4.jpeg" Id="R5a0865adb81045c6" /><Relationship Type="http://schemas.openxmlformats.org/officeDocument/2006/relationships/notesSlide" Target="/ppt/notesSlides/notesSlide13.xml" Id="R3e6c50b62fa546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d81271b0f2481f" /><Relationship Type="http://schemas.openxmlformats.org/officeDocument/2006/relationships/notesSlide" Target="/ppt/notesSlides/notesSlide14.xml" Id="R64d247407ae647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009f0979448ca" /><Relationship Type="http://schemas.openxmlformats.org/officeDocument/2006/relationships/notesSlide" Target="/ppt/notesSlides/notesSlide15.xml" Id="R1742ecb4ee0d4f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FCCCA-BA0B-4134-A101-E715D79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09167-BEA1-4B1F-933D-834ECFF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1381125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0B1AB-B5FB-4BEB-9658-34AC81F5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2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CD7DA-DA3C-4656-87A6-CFA8B07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F88A8-561E-4F31-8F4E-93D62833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DDD2"/>
                </a:solidFill>
                <a:latin typeface="Arial"/>
                <a:ea typeface="Arial"/>
                <a:cs typeface="Arial"/>
              </a:rPr>
              <a:t>PROYECTO ACADÉMICO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367BF-1C2C-4852-9EAC-90CD80C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809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SOLUCIÓN DE INTELIGENCIA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ARTIFICIAL PARA PEDIDOS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SUGERIDOS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B1E1D-ED9A-4976-8CD3-4D88A0E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9D9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D9D4"/>
                </a:solidFill>
                <a:latin typeface="Arial"/>
                <a:ea typeface="Arial"/>
                <a:cs typeface="Arial"/>
              </a:rPr>
              <a:t>Área comercial de una empresa avícola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4E92-F066-4511-AE3A-217EB71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SmartOrder AI  /  Vitali Alimentos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DD5E-D7FE-4FE5-B6D7-E1DDC4E3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628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D3F"/>
          </a:solidFill>
          <a:ln xmlns:a="http://schemas.openxmlformats.org/drawingml/2006/main" w="9525">
            <a:solidFill>
              <a:srgbClr val="2E66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5B237-66F7-4EF9-A7F2-FF4B484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Estudiante: 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B22C-B815-4490-8551-0D8540D9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Asignatura: 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86039-EF15-4998-B4B1-F9601E10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Docente: ______________________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54296-882D-404A-9FED-EDDF1374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Fecha: 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CF709-0839-4A0F-A2D7-32CDD98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A9C7C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9C7C3"/>
                </a:solidFill>
                <a:latin typeface="Arial"/>
                <a:ea typeface="Arial"/>
                <a:cs typeface="Arial"/>
              </a:rPr>
              <a:t>Entrega revisada sobre origin/main · 30 octubre 2026</a:t>
            </a:r>
          </a:p>
        </p:txBody>
      </p:sp>
    </p:spTree>
    <p:extLst>
      <p:ext uri="{BB962C8B-B14F-4D97-AF65-F5344CB8AC3E}">
        <p14:creationId xmlns:p14="http://schemas.microsoft.com/office/powerpoint/2010/main" val="946534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D0DF4-2400-4060-8019-903E6C3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C03B-72B1-4376-9A88-A64FF902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Estimar cada pedido exige contexto por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84B3D-CEEB-464D-B0AB-DA99299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El historial ayuda a ordenar la revisión comercial, pero sus límites deben ser visibles.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C92F3-EC55-4CC3-BA1B-44371B41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76BAA-2D28-45A7-BEE3-F9624EEA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DA919-3BDF-46CF-AA7C-B57091B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3B1D-EF57-47B0-A07E-A38ED0C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57120-B0AD-431C-8FC5-EEC91C9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95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C3D3-F267-449C-9EAE-24ECE21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7647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13140-6949-4AAD-839C-882EDC33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Frecuencia distinta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CD1B0-EE9B-4C94-B7B9-5448F048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Cada cliente puede comprar con ritmos diferentes.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1E731-E024-4E2A-ACA8-BF87596B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D0404-74B1-44EB-BA63-6FD5327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495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D3151-5DD7-45F8-A484-B2609ED8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7647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48B6E-8A2C-4A51-84C4-17161EA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Unidades y fechas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5C1E9-F326-4EC4-B682-F23E53B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Un registro de pedido no prueba por sí solo una entrega.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3C451-31EE-4DAC-82D1-C53C3B1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44456-7FE2-4B6F-8A94-7DFB2A7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495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3F5C0-7D42-4A46-9D4F-D2B6870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7647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AF34B-AAF4-4020-A307-2A48A60F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Decisión humana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4B1FD-D480-4B87-8C68-4B4C1F41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El vendedor revisa la cantidad antes de registrar la venta.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03695-18EC-4B31-87E3-85B7F28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No se atribuyen pérdidas, costos ni errores específicos a Vitali sin evidencia.</a:t>
            </a:r>
          </a:p>
        </p:txBody>
      </p:sp>
    </p:spTree>
    <p:extLst>
      <p:ext uri="{BB962C8B-B14F-4D97-AF65-F5344CB8AC3E}">
        <p14:creationId xmlns:p14="http://schemas.microsoft.com/office/powerpoint/2010/main" val="1567799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8BB40-F65D-41CB-B6AB-2C64331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AF6F4-29FE-4852-B8F6-EC7A098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recomendación orienta al vendedor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B615-FC30-41D3-B10F-77F780FE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Entrada de ventas históricas, cálculo con controles y revisión antes de preparar una venta.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87DD2-26B5-4941-9249-E5CE37A2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52000-A46E-461E-8E04-982D510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2C864-C044-4A50-9A73-A09A07A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6C557-D427-4680-9AD3-FD6C3EA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5048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A44CB-A63C-42CA-9C45-7351525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FAB07-ECCB-4D39-A8AA-8F7EC854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80"/>
          </a:bodyPr>
          <a:lstStyle xmlns:a="http://schemas.openxmlformats.org/drawingml/2006/main">
            <a:def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Apoyar la estimación de cantidades por cliente y producto usando la evidencia histórica disponible.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162AD-05FC-4868-A4A5-64A87EEF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La salida es revisable y editable; no confirma pedidos por sí sola.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2685-824D-427F-AFC9-F545C19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219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41F1F-9048-45D1-AC0F-220296D4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0CCA0-A868-43D4-B175-32CA3996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F6F37-E6B9-494E-80C9-F37E58EF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0137E-03CD-4115-B973-F415A0C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219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E0CC7-0A91-42A9-B612-E666B37E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47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A5693-C8B8-44BA-8F27-DC23459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908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Serie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F8EFB-3F55-433D-B833-1F51D709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528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cliente · producto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F4A33-BF32-4A19-8A3E-B72BA73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219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E5AED-FE97-4BE8-B1D0-2768C15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4D16C-3A10-412D-B1D6-3B12465F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Sugerencia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76140-C765-4590-A423-261ACAD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con evidencia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161C9-AAAC-4811-AE62-A6CEA4C4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76500"/>
            <a:ext cx="1219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8C8EC-D119-42BB-8EFF-1D5C6C74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647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ED411-9D6A-4B94-AB0F-E4B6E15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908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Vendedor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8D21A-831D-422B-B246-E4E34DD9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3528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revisa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F708B-44A0-46AB-ABCE-76C9D837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Continuar hacia una venta usa el flujo existente de Django.</a:t>
            </a:r>
          </a:p>
        </p:txBody>
      </p:sp>
    </p:spTree>
    <p:extLst>
      <p:ext uri="{BB962C8B-B14F-4D97-AF65-F5344CB8AC3E}">
        <p14:creationId xmlns:p14="http://schemas.microsoft.com/office/powerpoint/2010/main" val="572287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E5A51-76F5-4DB2-A317-B91E24C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HERRAMIENTAS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66D29-5E5D-4F2A-AE10-E27DAE8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IA del producto y herramientas de trabajo son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F36F8-5987-43A7-9C64-2C0FA0DA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La diapositiva separa el modelo que estima de las herramientas usadas para construir y ejecutar el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469A1-AF21-40C7-8EC4-5F3856E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F0F0F-39BA-4B91-91E2-6C2DDA3D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C806C-F936-4188-A5B6-46C57798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4C9F-086F-413A-8933-1CA30DDA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0673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B9F36-8291-4E96-A9FC-B2C15A1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5413-CD97-4C5C-8EC8-C461F79A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MODELO 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B0F2E-DD66-4F3B-8920-21D5EB1D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1FDAF-BC2D-4B60-92CD-23D86229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23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XGBRegressor candidato para pronóstico semanal de ventas. Su uso depende de cobertura, validación temporal y comparación con la referencia.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2695D-0E24-4154-AAF9-052EFCAB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4238625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D6908-281B-4567-BCB2-5900F602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Métodos estadísticos del sistema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34C5B-7184-43F4-B468-DEBE837C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Promedios 7/28/56 días · mediana de días equivalentes · mismo período anual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D4829-5EA5-468B-8876-0C70212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56007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15003-B8DB-4A39-B7DE-87E7740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1476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3B539-6CA4-4194-9E45-AD9A47B6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1247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CONSTRUCCIÓN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87D8C-92F1-46ED-BB30-CB4D9871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Python · pandas · NumPy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1959C-0AC2-426F-B2D8-486DAE0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Django · SQLite · HTML/CSS · Bootstrap local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E968E-CD48-42FE-841E-2C4BEC5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ChatGPT y 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04349-B421-463A-9207-6773A51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481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Asistencia en análisis, programación y documentación de esta entrega. No generan las cantidades mostradas por la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E0D33-BB75-4712-BF12-6DFC7DE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scikit-learn está en dependencias, sin uso directo localizado en el motor.</a:t>
            </a:r>
          </a:p>
        </p:txBody>
      </p:sp>
    </p:spTree>
    <p:extLst>
      <p:ext uri="{BB962C8B-B14F-4D97-AF65-F5344CB8AC3E}">
        <p14:creationId xmlns:p14="http://schemas.microsoft.com/office/powerpoint/2010/main" val="424574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9FBCBE-6192-4E62-9B55-C07653DC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A2894-AD96-4EBA-AC37-B45078DC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Django conecta la interfaz con el recomendador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BDFC7-DCD3-4155-9AD5-926E00D7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La interfaz Streamlit también consume el backend compartido; la demostración académica prioriza Django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38B0-BB3E-49E0-A47C-E8F68309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14985-446E-4463-BA23-31EAF529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F7347-53A5-403B-A038-139693E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2692-9E85-4E0C-9056-68E57B2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9621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969B0-9601-482F-A020-C4DAF52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432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FCEEF-7E9A-4EF2-9F56-068E9EB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200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A3E95-8B4D-41FB-AB29-4D9F932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CE26F-D498-4A0E-BA02-D739AA4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43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Django templates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79774-8A26-4479-A920-BB744CD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2420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7F465-B783-4B1B-BECE-509835A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19621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9FB14-DF76-4778-B8B4-8B4A35C5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432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15463-772D-47B7-B161-73ACFF4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09875"/>
            <a:ext cx="200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00106-7C4A-408C-B90E-4EBC4509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432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Vistas y 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9DFD8-DDC2-4DC6-8B63-72D6347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543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operations/views.py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00564-999A-48E2-8C72-04126EDB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40B97-AD10-4D55-BD8D-6F96343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571750"/>
            <a:ext cx="19621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056AA-F30F-45C9-8ADD-9D2CAA9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432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D3B8B-6C9C-4AF8-9603-9A224CF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9875"/>
            <a:ext cx="200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9AD22-BE43-492F-BE4C-5C5F3E84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432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Servicios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32E5B-85B2-417C-88BB-2F181BB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543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operations/services.py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28506-E6F8-49E8-8B9A-ADE6FC7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2420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8C490-7576-49A4-AC63-0D8B1AD7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71750"/>
            <a:ext cx="19621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E6635E-41A3-4AB3-AF25-F860495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432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7CE78-6BC7-438C-B020-5593CF2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09875"/>
            <a:ext cx="200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1DAAC-1856-4D05-A888-CE2808BF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Motor temporal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1CF816-F03F-4F83-BE14-230757C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43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smartorder/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3CBCDC-77E1-4348-BA81-ACD83252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24200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D120E-DBAC-46D6-9C3C-0CD1A6D3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71750"/>
            <a:ext cx="19621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9F790-4A1E-40C5-86C1-D59B699C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743200"/>
            <a:ext cx="428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3373D4-52F7-4E56-B7AC-488806F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09875"/>
            <a:ext cx="200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679DC8-7AC2-4FAC-9EBD-A18BA457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432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SQLite local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04E014-9572-4ABA-ADDA-D04946E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43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datos del LAB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FE467F-8E84-4819-923D-0235635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Excel con origen y fechas confirmados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895698-89DE-464C-9AA7-B13033B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67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El ORM y los permisos median el acceso a los datos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96F309-FAEA-4706-9CDA-8485E02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67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La salida se presenta para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1607490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51439-B1F2-4EBD-952B-4BCABDB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63983-A835-4185-BB91-6628FC9C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calidad de fecha y unidad condiciona el cálculo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91FF5-8309-4E51-A8B6-DAC4CB8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El motor trabaja con series separadas por cliente, producto y unidad.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B32CF-B930-4A48-AEDC-BE506CA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57B05-C14D-4C5D-B5FE-0953CAC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49237-D491-4004-82CF-5665195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EA6E0-67DD-4B26-8D0B-18C928E5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1D044-F70E-4288-B728-2837097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B40F2-88D7-4A5C-9C3B-3193F38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FEDDB-5F0D-4BCB-B9A0-08B69899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Fecha · cliente · producto · cantidad · unidad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CE1AE-C069-4071-979C-92706E9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00E5A-74FE-464B-9A86-30253473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44962-E990-4F51-84F7-B9FF3197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Histórico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D3B34-57E9-43F2-825B-CA26C9D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Ventas observadas y cobertura temporal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6C1A1-824A-4369-B198-9A88EB2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43CF4-F3FC-4DFA-8B87-71F827F8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9BC43-B98C-4845-A039-A513E178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B434B-D7D6-44D6-ADC1-4EC7220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956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Mes · día de semana · plazo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5A9ED-6C5A-4B42-8DA2-5944737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76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19FA8-E1FD-40C5-94ED-0C228D53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D69DF-A31B-44AC-AE13-381A0BDC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A031B-C7BF-44E3-9325-4C7B448E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95600"/>
            <a:ext cx="2057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Snapshot disponible, por separado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79E5C-2B9F-4495-AB44-6F97A59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39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E529A-15CD-4050-A4D6-9C4A41E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Clima: no se encontró una variable meteorológica integrada al motor.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D4BE3-8C12-47AD-BE32-3C45B506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El material de demostración se creó como sintético y se mantiene separado de datos operativos.</a:t>
            </a:r>
          </a:p>
        </p:txBody>
      </p:sp>
    </p:spTree>
    <p:extLst>
      <p:ext uri="{BB962C8B-B14F-4D97-AF65-F5344CB8AC3E}">
        <p14:creationId xmlns:p14="http://schemas.microsoft.com/office/powerpoint/2010/main" val="1653987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231FF-26F0-4B62-BA08-C08DFF7D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9EFAF-60A0-4C2C-9F3E-39ACFBA7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El sistema verifica la serie antes de sugerir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8365D-8861-4A81-AF16-96E1C635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La ausencia de evidencia compatible termina en decisión manual.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31DCE-B7D1-44C1-B677-155B8B9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9E135-C8ED-4D00-9299-B530FC86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7E586-A866-4518-99CB-2200AF6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2B9C-7418-4016-A43A-AAAD450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A2CF7-6981-4D77-9507-CF3C58B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478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C4266-1D53-4E1E-9CC4-8B41828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716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Leer XLSX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24488-303C-43F8-BCE6-1E1F766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Validar columnas, fechas y valores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5814A-E1E6-4F6B-81C6-A70A7B3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717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086FC-983F-4BB2-9DE9-8CCA96D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1A87E-BACA-4BB5-A681-C044E1BB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E4830-78DF-4D96-A9E0-1683A8F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67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Agrupar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D7F0D-50F7-4071-A001-C21C8BDC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Cliente × producto × unidad × fecha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FBF5F-F7DB-42CB-B659-41DBB778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6707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1F0AD-0608-4842-9779-2FFC5BC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B81F2-B0D1-423B-9CA7-6CCF420A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38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56E18-BCB7-4533-8C97-FB7BF7A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Marcar cobertura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3C12E-0F72-4B14-896E-8FF87C08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Distinguir cero observado de intervalo desconocido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88775-4BF4-42D2-9B7F-F13626B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62425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A6380-1410-4BC8-A65C-699BA6F3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8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3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B65AC-2CB2-4E65-8EDC-A29F5D6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39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18B73-C2AE-4713-87DC-1881AE0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57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Comprobar origen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AA774-84FB-4B8B-B5B1-7901AF88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Fecha compatible, serie reciente y fuente verificada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C314D-39BB-42AD-9B0A-87E97F1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67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Un pedido solicitado no se confunde automáticamente con una entrega realizada.</a:t>
            </a:r>
          </a:p>
        </p:txBody>
      </p:sp>
    </p:spTree>
    <p:extLst>
      <p:ext uri="{BB962C8B-B14F-4D97-AF65-F5344CB8AC3E}">
        <p14:creationId xmlns:p14="http://schemas.microsoft.com/office/powerpoint/2010/main" val="592013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3E88-7FA9-464F-B426-945D9F14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APRENDIZAJE AUTOMÁTICO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A19E1-ADBC-4A24-8680-BFE8627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XGBoost aprende con ventanas previas al corte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ED13E-3F03-4361-9139-ECD23FD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Su predicción semanal es un candidato entre varios métodos y no siempre resulta elegido.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F2EF-7844-4A48-879F-7E266FC2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FC1CC-732F-486F-98FD-2761FAE0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6504A-E2FC-4335-8175-9E985B3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A19A4-F08D-4B1E-B533-B34CE9F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68008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DCBE7-A68B-4D3C-9DF0-8040A01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Características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AAB91-8200-4D52-9D74-09A6E19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Mes · día de semana · plazo</a:t>
            </a:r>
          </a:p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Acumulados de los últimos 7, 28 y 56 días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1CC3A-664F-4425-8950-C970307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12852-432D-406E-B2AA-9F40B22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21526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2B15C-EA8E-4E7A-8407-70DCB50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004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XGBRegressor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9945A-DF66-4117-BF19-29436EB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909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80 árboles · profundidad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481DA-D6C1-4573-9B0F-32882D4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Origen de entrenamiento &lt; fecha de corte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160AA-9B57-4D24-B5F1-978F930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Predicción no negativa · escala deshecha por producto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6D653-9006-4AC6-A6F9-37BF0528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7338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5A9D1-05AF-400E-9101-FCF1C04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Lo que sí dice el código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32516-2370-464B-9AB1-44810A6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30956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Regresión para cantidad semanal.</a:t>
            </a:r>
          </a:p>
          <a:p xmlns:a="http://schemas.openxmlformats.org/drawingml/2006/main">
            <a: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Semilla fija.</a:t>
            </a:r>
          </a:p>
          <a:p xmlns:a="http://schemas.openxmlformats.org/drawingml/2006/main">
            <a: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Normalización por producto.</a:t>
            </a:r>
          </a:p>
          <a:p xmlns:a="http://schemas.openxmlformats.org/drawingml/2006/main">
            <a:pPr algn="l">
              <a:defRPr sz="135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Aprendizaje local durante el cálculo.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582CB-FD52-4BE1-869A-BE534A63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No hay clima ni artefacto persistido/versionado localizado.</a:t>
            </a:r>
          </a:p>
        </p:txBody>
      </p:sp>
    </p:spTree>
    <p:extLst>
      <p:ext uri="{BB962C8B-B14F-4D97-AF65-F5344CB8AC3E}">
        <p14:creationId xmlns:p14="http://schemas.microsoft.com/office/powerpoint/2010/main" val="54932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79607-7E70-4D7E-9643-8CCCEA59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C8EC0-ECCF-4A62-B2DF-03BE0573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selección se hace en orden temporal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46BB1-D04C-4850-901E-C732AC8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El objetivo es reducir fuga de información y comparar con una referencia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FF22D-4E9E-4E2A-B14C-87B0E01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F2D53-43C8-4870-8E87-C61274C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34ED-1CFA-4739-BD8F-82E0561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E6153-9905-424F-84BD-72A2A0B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238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267BC-84A6-4F4D-85E1-3B2D3330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Semanas 1–8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0799E-80C1-4565-9BE0-045EF01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Selección de método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C85DF-9922-4015-90DF-0A4DA7F4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4238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70AD1-B595-4D6E-BADC-344BC69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003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Semanas 9–16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37577-6928-4B1A-AE8A-EAAB3862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57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Auditoría posterior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0FA9B-7A1F-48F6-80D5-3AECE96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62225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072E5-32F4-4D63-8CBF-F76A4C2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Comparación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0F25B-EC18-4E0A-9562-510B45FF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Error del candidato frente al promedio de 28 días.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BE0A8-5FD6-4B86-B877-507213CD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Controles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1D2C5-84DF-4090-A0CD-EB7F4BFE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00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Si faltan datos, cobertura o ventaja, la interfaz vuelve a revisión manual.</a:t>
            </a:r>
          </a:p>
        </p:txBody>
      </p:sp>
    </p:spTree>
    <p:extLst>
      <p:ext uri="{BB962C8B-B14F-4D97-AF65-F5344CB8AC3E}">
        <p14:creationId xmlns:p14="http://schemas.microsoft.com/office/powerpoint/2010/main" val="1427472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E6928-DFE9-4F4E-997D-8B4CA7CA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CÓDIGO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9AD38-1AE0-485F-96D2-42946BA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El modelo se ajusta y vuelve a escala por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023CD-3C20-456B-AB87-A0E837D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Fragmento literal abreviado de smartorder/recommendations.py, método _xgboost.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C2ED-E6EB-4DED-A1E5-571FCECC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1D8D7-FD61-4A7A-9935-8641F42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39BAB-F191-4A3C-B4F4-5285AFD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4D99E-5769-489C-8CEC-5A263F09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02B2F"/>
          </a:solidFill>
          <a:ln xmlns:a="http://schemas.openxmlformats.org/drawingml/2006/main" w="9525">
            <a:solidFill>
              <a:srgbClr val="102B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9CA99-B8EA-4D95-BE1B-BE5E4F7E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42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model = XGBRegressor(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    objective="reg:squarederror", tree_method="hist",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    n_estimators=80, max_depth=3, learning_rate=0.05,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    n_jobs=1, random_state=73,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)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model.fit(x_train, y_train / train_scale)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prediction[live_indices] = np.maximum(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    0, model.predict(x_live) * live_scale</a:t>
            </a:r>
          </a:p>
          <a:p xmlns:a="http://schemas.openxmlformats.org/drawingml/2006/main">
            <a:pPr algn="l">
              <a:defRPr sz="1500" b="0">
                <a:solidFill>
                  <a:srgbClr val="E1F0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F0ED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98E1A-784F-400F-B8CF-A616DF8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09800"/>
            <a:ext cx="9525" cy="31051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376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C2CE7-DEE2-481F-9AE6-3C5EC6FF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9DD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DDD2"/>
                </a:solidFill>
                <a:latin typeface="Arial"/>
                <a:ea typeface="Arial"/>
                <a:cs typeface="Arial"/>
              </a:rPr>
              <a:t>Lectura rápida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063BE-35D9-4400-93EF-CD2FF67E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2190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Ajusta solo con ventanas históricas.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Corrige la escala relativa a cada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Recorta valores bajo cero.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81296-1812-4663-8367-59F51DA2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La tarjeta capturada de la demo usa una mediana estadística, no este fragmento XGBoost.</a:t>
            </a:r>
          </a:p>
        </p:txBody>
      </p:sp>
    </p:spTree>
    <p:extLst>
      <p:ext uri="{BB962C8B-B14F-4D97-AF65-F5344CB8AC3E}">
        <p14:creationId xmlns:p14="http://schemas.microsoft.com/office/powerpoint/2010/main" val="1675474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3D398-588E-4EC5-889A-2AB059A6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PANTALLAS REALES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EA2ED-6AB9-4F4F-B2B9-8CF4E894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Acceso y supervisión administrativa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DFB1A-ED1D-4AFB-A4E0-DD49DA98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Capturas del Django local ejecutando sobre una base LAB sintética separada.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CE8B6-0B58-498D-B1F5-2C00E01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40035-1D8B-46D0-84CF-BCDB54C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BF911-76F7-44B5-B59E-16D95B8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E2F10-9AA0-43AB-897C-CB472E4FC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c6382ab1845bb"/>
          <a:stretch xmlns:a="http://schemas.openxmlformats.org/drawingml/2006/main"/>
        </p:blipFill>
        <p:spPr>
          <a:xfrm xmlns:a="http://schemas.openxmlformats.org/drawingml/2006/main">
            <a:off x="628650" y="2381250"/>
            <a:ext cx="4572000" cy="28575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28AE3-E239-4214-BE89-E3D6FAF43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4c14f74ca4f27"/>
          <a:stretch xmlns:a="http://schemas.openxmlformats.org/drawingml/2006/main"/>
        </p:blipFill>
        <p:spPr>
          <a:xfrm xmlns:a="http://schemas.openxmlformats.org/drawingml/2006/main">
            <a:off x="5430909" y="1762125"/>
            <a:ext cx="6130782" cy="3829050"/>
          </a:xfrm>
          <a:prstGeom xmlns:a="http://schemas.openxmlformats.org/drawingml/2006/main" prst="roundRect">
            <a:avLst>
              <a:gd name="adj" fmla="val 24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ACD31-B35D-47AB-A5A0-BCB8891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Inicio de sesión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F44ED-26A4-4C7E-97D1-0D7A293D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34050"/>
            <a:ext cx="609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Centro de operación · las cifras vacías reflejan que no hay ventas confirmadas en el período.</a:t>
            </a:r>
          </a:p>
        </p:txBody>
      </p:sp>
    </p:spTree>
    <p:extLst>
      <p:ext uri="{BB962C8B-B14F-4D97-AF65-F5344CB8AC3E}">
        <p14:creationId xmlns:p14="http://schemas.microsoft.com/office/powerpoint/2010/main" val="232878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2D44F-DE4B-4847-8344-5C8D951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DEMO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4E543-5478-4F2A-9D82-E1351727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tarjeta muestra una sugerencia con explicación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F5A9C-CCC6-4B97-89E4-D76403AB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Cliente y producto de laboratorio. Cantidad basada en una serie artificial constante.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821A3-6B1E-4CCA-A49E-DD46ED44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94A03-EB76-4047-B028-99EAD78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B2327-83CF-4D64-AE7E-0C23619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A8B65-3926-46C1-B99E-28BB73C56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f22c7123348d2"/>
          <a:stretch xmlns:a="http://schemas.openxmlformats.org/drawingml/2006/main"/>
        </p:blipFill>
        <p:spPr>
          <a:xfrm xmlns:a="http://schemas.openxmlformats.org/drawingml/2006/main">
            <a:off x="1262063" y="1714500"/>
            <a:ext cx="7162800" cy="4476750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069DB-ADDC-4241-A4A8-1EF0FBA0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2247900" cy="3305175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D375E-724D-41D3-8200-DDBF25D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7F76F-1B7B-43A1-ADCA-C8539B3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574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SIMULACIÓN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14A43-9CB4-4FDD-A409-DDD5628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10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656DE-EF17-4CC5-97C3-0D0F229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salida visible de la mediana de días equivalentes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C5204-3592-458C-95CC-53146740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9575"/>
            <a:ext cx="1762125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8CE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50F69-6630-4DA2-8970-8F1CF0D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8 ventanas. MAE 0 frente a 0 en la referencia para esta muestra sintética.</a:t>
            </a:r>
          </a:p>
        </p:txBody>
      </p:sp>
    </p:spTree>
    <p:extLst>
      <p:ext uri="{BB962C8B-B14F-4D97-AF65-F5344CB8AC3E}">
        <p14:creationId xmlns:p14="http://schemas.microsoft.com/office/powerpoint/2010/main" val="690659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E10BB-9B58-49EB-B897-7C7BB9D5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FLUJO VENDEDOR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2BF65-7E11-47DD-8815-AC6961F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sugerencia abre un formulario revisable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7D475-F8D4-4D33-848E-8AC3629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Este paso prepara los productos; no registra una venta hasta que el vendedor confirma.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0C15-9924-4489-BC2E-BF75711E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5436-89AF-41CE-8469-B146C707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DD333-A46C-4D43-8E65-1CE21A5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C8019-ECAF-4F33-A099-674C55D3A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865adb81045c6"/>
          <a:stretch xmlns:a="http://schemas.openxmlformats.org/drawingml/2006/main"/>
        </p:blipFill>
        <p:spPr>
          <a:xfrm xmlns:a="http://schemas.openxmlformats.org/drawingml/2006/main">
            <a:off x="1489164" y="1752600"/>
            <a:ext cx="6984822" cy="4362450"/>
          </a:xfrm>
          <a:prstGeom xmlns:a="http://schemas.openxmlformats.org/drawingml/2006/main" prst="roundRect">
            <a:avLst>
              <a:gd name="adj" fmla="val 218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04925-C223-4CC8-8BF2-C7BFA84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2000250" cy="31813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7E8B3-8826-43FB-9695-BE4571A0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Antes de confirmar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D1811-CCDA-44D7-9B21-D03893F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71800"/>
            <a:ext cx="16192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Cliente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Fecha requerida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Producto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Cantidad ajustable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Resumen comercial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DA64-559D-47FD-87A4-9CCF624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7200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La producción queda bajo aprobación administrativa.</a:t>
            </a:r>
          </a:p>
        </p:txBody>
      </p:sp>
    </p:spTree>
    <p:extLst>
      <p:ext uri="{BB962C8B-B14F-4D97-AF65-F5344CB8AC3E}">
        <p14:creationId xmlns:p14="http://schemas.microsoft.com/office/powerpoint/2010/main" val="746283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DE6DC-C380-4C03-A373-6CFE173A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7A6C-6106-4041-9FFA-C2CE903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Pruebas aprobadas; validación comercial pendiente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B790F-1C35-41F0-9052-543D82F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Las pruebas automáticas verifican comportamiento del software, no precisión en Vitali.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6B152-617E-41B8-9274-521521A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F8E8A-0DA2-438B-8E99-8DF5B3AD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13414-DFB8-4DC9-9651-8C9018D0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9863D-E449-4D6A-A00F-2FF0E8E1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095625" cy="311467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1170C-E822-4675-9386-3E3C5EA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EDDFE-9716-4974-AA2A-4C20B74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pruebas Django · 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A7646-3D9E-4A4F-9973-DF9B535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manage.py check: sin problemas</a:t>
            </a:r>
          </a:p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Demo manual: admin, vendedor, sugerencia LAB y formulario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2E1D6-97AD-4D00-B7A1-B7E697C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62150"/>
            <a:ext cx="352425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D45C7-A663-4E8D-AD2A-D127EFE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Evidencia presente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21699-570D-4508-88CF-382E4933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• XGBRegressor candidato en código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• evaluación cronológica y referencia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• decisión manual cuando faltan datos</a:t>
            </a:r>
          </a:p>
          <a:p xmlns:a="http://schemas.openxmlformats.org/drawingml/2006/main">
            <a:pPr algn="l">
              <a:defRPr sz="120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• venta y autorización separadas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A56F9-21EB-4C83-844B-44DAB75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371475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EFD3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D9C63-2ADA-4421-8B40-DE48EFB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F7422-ADC4-4520-8AC4-6AC1D41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Datos reales autorizados</a:t>
            </a:r>
          </a:p>
          <a:p xmlns:a="http://schemas.openxmlformats.org/drawingml/2006/main">
            <a: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Validación fuera de muestra</a:t>
            </a:r>
          </a:p>
          <a:p xmlns:a="http://schemas.openxmlformats.org/drawingml/2006/main">
            <a: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Registro/versionado del modelo</a:t>
            </a:r>
          </a:p>
          <a:p xmlns:a="http://schemas.openxmlformats.org/drawingml/2006/main">
            <a:pPr algn="l">
              <a:defRPr sz="1200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Meteorología: no integrada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2FEEB-069A-4B21-A91E-340C91E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93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9335"/>
                </a:solidFill>
                <a:latin typeface="Arial"/>
                <a:ea typeface="Arial"/>
                <a:cs typeface="Arial"/>
              </a:rPr>
              <a:t>No afirmar ahorros ni precisión real.</a:t>
            </a:r>
          </a:p>
        </p:txBody>
      </p:sp>
    </p:spTree>
    <p:extLst>
      <p:ext uri="{BB962C8B-B14F-4D97-AF65-F5344CB8AC3E}">
        <p14:creationId xmlns:p14="http://schemas.microsoft.com/office/powerpoint/2010/main" val="1003156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F046B1-277E-4060-B58C-DC35994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A2936-6A58-49C5-8043-4BEDE30E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La base está lista para validarse con ventas autorizadas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D8FFB-F31D-4D6A-8F08-2E7BE600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SmartOrder presenta una ruta explicable. El siguiente paso es contrastarla con datos reales bien definidos.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FF46F-907F-4437-8B8A-2F7F8573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7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A74FE-4F74-4A4D-B080-5BF96B10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SmartOrder AI · rama main, 30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0F12D-45DA-4812-9513-DA0FC11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ABE4C-97A2-43F1-A126-815B9DC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400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A02BE-8DAE-40BC-91F5-FDD57F0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903E0-5030-4DF6-9460-D16D6FC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Autorizar y sanear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9D965-C2A4-4A54-A38C-E36B3C9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histórico y unidades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16876-C789-4CEC-AB02-15DD8A55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38375"/>
            <a:ext cx="2400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31323-3FCA-4DB4-8B8B-9C43A2CF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F3768-F544-4A38-B378-7DBB97E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0512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08B85-E051-4FFA-8D50-3179018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XGBoost frente a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B3258-DF23-437C-84D9-46CE96CF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400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6C915-3ED2-4E7A-B639-FDA28836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3AB05-ED2C-4A93-908C-C22F2D2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F8104-7A97-418A-9994-6D3BA9F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por serie y horizonte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47E8F-C32B-4AB1-8368-E932F25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400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075A5-6DF1-47E2-9148-DB381E4D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31C42-AD6C-4CC0-B8ED-36BAD4B3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0512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Documentar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D367A-A644-4C95-B16A-7C64E25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52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modelo, corte y límites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5229D-34CA-4D05-8873-49DB36FD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76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66D"/>
                </a:solidFill>
                <a:latin typeface="Arial"/>
                <a:ea typeface="Arial"/>
                <a:cs typeface="Arial"/>
              </a:rPr>
              <a:t>Herramientas de 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D5731-9E46-4EA3-8840-17847EF7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XGBoost en el sistema · ChatGPT/Codex como apoyo de esta entrega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07513-4AAB-4D6A-A780-82CE8315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24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278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87A"/>
                </a:solidFill>
                <a:latin typeface="Arial"/>
                <a:ea typeface="Arial"/>
                <a:cs typeface="Arial"/>
              </a:rPr>
              <a:t>Código y pantallas: docs/EXPLICACION_MODELO_IA.md · docs/EVIDENCIAS_FRONTEND.md</a:t>
            </a:r>
          </a:p>
        </p:txBody>
      </p:sp>
    </p:spTree>
    <p:extLst>
      <p:ext uri="{BB962C8B-B14F-4D97-AF65-F5344CB8AC3E}">
        <p14:creationId xmlns:p14="http://schemas.microsoft.com/office/powerpoint/2010/main" val="140760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2026-10-31T01:09:34.5080000Z</dcterms:created>
  <dcterms:modified xsi:type="dcterms:W3CDTF">2026-10-31T01:09:34.5080000Z</dcterms:modified>
</coreProperties>
</file>